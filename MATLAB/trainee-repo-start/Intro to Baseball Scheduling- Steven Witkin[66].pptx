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6" r:id="rId6"/>
    <p:sldId id="267" r:id="rId7"/>
    <p:sldId id="260" r:id="rId8"/>
    <p:sldId id="268" r:id="rId9"/>
    <p:sldId id="261" r:id="rId10"/>
    <p:sldId id="265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B320-ED92-4F28-B6A1-3FBF5AC1D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00547-EFD8-4522-8F8E-2FA473839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EB50-CB61-487D-A22C-4B0481131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44B3E-50E2-4DD8-AFA0-89B6CFB70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61694-F0AE-48A9-A0FB-31310C05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803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548A9-5E1C-4C96-9EC9-51A5140BC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D1D5-A8D4-4510-8F2F-3A7D2DEF7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8E99A-5D7D-4E38-A4C2-DEC25E31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05EB91-AC72-425E-A41D-F717F31CB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9F256-BC27-4756-9623-17D5946E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08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DB402-5042-48E8-820B-6F74B7CD1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667B9-57D5-4028-86C7-27CBEAE96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5D8AD-1E7C-4A7D-8756-80340C7F6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B9321-3773-4674-8C13-78E0B9131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AC2A1-0604-4336-9713-AA574D5B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8467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2B8E5-54AC-401B-A02F-61677157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51B3-49DD-469A-8057-3E573164D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6D01E2-8BA5-43A0-8E83-A1E4F9EBF9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57B1E-7F29-4B72-9306-5538C4D20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BB458-5880-46D0-96FB-A7BF0284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2DD2F-7F39-4B35-B4A6-AB96F4AEA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175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4AE1C-1ECB-495F-8F36-F2D04CC2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A9784-833A-4C64-935B-846A7396F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BF7BA0-D1B9-40DF-92EC-9548701D2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AE55A-CDDB-49D9-83B4-420ED5C203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F3F872-1897-4027-9D62-938B16B684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6374E-1752-4FB6-A3F7-E62B5B24F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F56C3E-C59B-47BD-9E5B-AA63A61F6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27441-4AAA-45AC-9363-D5ACD4F3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50385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1E36-F8FA-420D-9905-58539961D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D399C-F317-4B59-B728-CFD0A5AD4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3B755-DDD4-4EAF-9041-C08DEB20F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4FDCA-F501-454F-883A-A13D2AD6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52238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A0DAC-8BD8-4541-BE95-91271480C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43F421-5BB5-42AC-9D65-5C4E827A5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B572D-4F98-4FDF-B9E3-B53159033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8664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8A56D-AF46-4154-8F65-F5776F631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7674-62D5-4062-BF20-39FBDB005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595C7-2B62-4D73-9BCF-A97A82EFB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C0DAEC-C55B-4D27-8EA5-A0DFDDD8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E4017-CF91-4170-AD04-EC2DE6E2C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1A416-5007-42FB-B584-AECB27F8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17070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F20B-6AE9-4D48-83B3-84E6E0631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BD643-8063-4BA1-90CF-0AED38763B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27652E-FA65-4A4F-98B5-21DA2A57B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E4949-2F81-4F52-AD9A-283D66AF6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3894C-17BD-4D1E-A59C-20353069D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264FB-B0E0-4B18-BF4E-33D0EAF6E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68770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B8CB6-A0E8-4FB7-8B25-CE0BD1C90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B6AAA-8F09-4810-BE02-37A9B967A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E7191-AAEC-42CA-8063-9DBB2BCEA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BFAA9-9526-41CD-B25C-51570DDD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02161-3FFB-4AA8-A6FF-EBF801BD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972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703C76-53F8-4C39-899D-3240BFC13F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D6646-90BC-4B6D-BEAB-6D26C3438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80FCA-AF9A-460C-B634-56539DB1D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B0803-C1E7-45B7-917E-1639EFCB8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A1AB2-6F33-4209-B1D9-0526DA885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0722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D6D1D6-B16A-475D-B75C-1BC8F41F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5F3D1-0493-4019-9D92-4E3998B94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A6AC1-95A4-4D8F-932A-BEDF70D52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1/31/23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95E3C-832F-43B3-9BFC-315C5ACFF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709EF-324C-4AE0-A90D-3747D6F23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742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DD3B-9AA9-4B57-8FEC-9E83B1AF66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620" y="863695"/>
            <a:ext cx="3511233" cy="3779995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Intro to Baseball Scheduling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005C3-AD93-4435-B324-82F25F8FE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621" y="4739780"/>
            <a:ext cx="3511233" cy="1147054"/>
          </a:xfrm>
        </p:spPr>
        <p:txBody>
          <a:bodyPr anchor="t">
            <a:normAutofit/>
          </a:bodyPr>
          <a:lstStyle/>
          <a:p>
            <a:r>
              <a:rPr lang="en-US" sz="2800" dirty="0"/>
              <a:t>Steven Witkin</a:t>
            </a:r>
          </a:p>
          <a:p>
            <a:r>
              <a:rPr lang="en-US" sz="2800" dirty="0"/>
              <a:t>October 2019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2481AD-90B0-47CE-B997-D765C710FA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73" r="7524" b="2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003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A376EEF-9B55-42E4-8E98-E626512BA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CA19226-B189-439E-B101-B0EF17B50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291840"/>
          </a:xfrm>
        </p:spPr>
        <p:txBody>
          <a:bodyPr/>
          <a:lstStyle/>
          <a:p>
            <a:r>
              <a:rPr lang="en-US" dirty="0"/>
              <a:t>A league requests a schedule for an upcoming season. Which team will play which? When and where?</a:t>
            </a:r>
          </a:p>
          <a:p>
            <a:r>
              <a:rPr lang="en-US" dirty="0"/>
              <a:t>What information are we given?</a:t>
            </a:r>
          </a:p>
          <a:p>
            <a:pPr lvl="1"/>
            <a:r>
              <a:rPr lang="en-US" dirty="0"/>
              <a:t>Number of teams in the league and relevant divisional structure</a:t>
            </a:r>
          </a:p>
          <a:p>
            <a:pPr lvl="1"/>
            <a:r>
              <a:rPr lang="en-US" dirty="0"/>
              <a:t>Locations of stadiums and matrix of travel distances</a:t>
            </a:r>
          </a:p>
          <a:p>
            <a:pPr lvl="1"/>
            <a:r>
              <a:rPr lang="en-US" dirty="0"/>
              <a:t>Protected Dates: what dates do certain teams need to be home/away?</a:t>
            </a:r>
          </a:p>
          <a:p>
            <a:pPr lvl="1"/>
            <a:r>
              <a:rPr lang="en-US" dirty="0"/>
              <a:t>Lots of league preferences about series length, travel restrictions, off day placement, start and end dates, interdivisional play, series patterns, etc.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D01BC2-D237-4C1E-8BC4-32D8EA1A7D94}"/>
              </a:ext>
            </a:extLst>
          </p:cNvPr>
          <p:cNvSpPr txBox="1"/>
          <p:nvPr/>
        </p:nvSpPr>
        <p:spPr>
          <a:xfrm>
            <a:off x="838200" y="5077698"/>
            <a:ext cx="1051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rebuchet MS" panose="020B0603020202020204" pitchFamily="34" charset="0"/>
              </a:rPr>
              <a:t>Can we make a schedule which makes people happy (makes the fewest people unhappy)?</a:t>
            </a:r>
          </a:p>
        </p:txBody>
      </p:sp>
    </p:spTree>
    <p:extLst>
      <p:ext uri="{BB962C8B-B14F-4D97-AF65-F5344CB8AC3E}">
        <p14:creationId xmlns:p14="http://schemas.microsoft.com/office/powerpoint/2010/main" val="3043599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5E55-507D-4F10-B1AD-BAAC542EB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90493-237E-4357-A750-04F67BDE10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49422"/>
                <a:ext cx="10515600" cy="4837642"/>
              </a:xfrm>
            </p:spPr>
            <p:txBody>
              <a:bodyPr/>
              <a:lstStyle/>
              <a:p>
                <a:r>
                  <a:rPr lang="en-US" dirty="0"/>
                  <a:t>Binary Integer Linear Programming. Each variable is like a switch.</a:t>
                </a:r>
              </a:p>
              <a:p>
                <a:r>
                  <a:rPr lang="en-US" dirty="0"/>
                  <a:t>Decision Variables: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1,2,…,#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𝑠𝑒𝑟𝑖𝑒𝑠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1,2,…,#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𝑡𝑒𝑎𝑚𝑠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1,2,…,#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𝑡𝑒𝑎𝑚𝑠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, then the program says that during the </a:t>
                </a:r>
                <a:r>
                  <a:rPr lang="en-US" b="1" dirty="0" err="1"/>
                  <a:t>i</a:t>
                </a:r>
                <a:r>
                  <a:rPr lang="en-US" b="1" baseline="30000" dirty="0" err="1"/>
                  <a:t>th</a:t>
                </a:r>
                <a:r>
                  <a:rPr lang="en-US" b="1" baseline="30000" dirty="0"/>
                  <a:t> </a:t>
                </a:r>
                <a:r>
                  <a:rPr lang="en-US" b="1" dirty="0"/>
                  <a:t>series</a:t>
                </a:r>
                <a:r>
                  <a:rPr lang="en-US" dirty="0"/>
                  <a:t>, </a:t>
                </a:r>
                <a:r>
                  <a:rPr lang="en-US" b="1" dirty="0"/>
                  <a:t>team j </a:t>
                </a:r>
                <a:r>
                  <a:rPr lang="en-US" dirty="0"/>
                  <a:t>is playing games at </a:t>
                </a:r>
                <a:r>
                  <a:rPr lang="en-US" b="1" dirty="0"/>
                  <a:t>stadium k </a:t>
                </a:r>
                <a:r>
                  <a:rPr lang="en-US" dirty="0"/>
                  <a:t>(team j plays team k at team k’s home stadium).</a:t>
                </a:r>
                <a:endParaRPr lang="en-US" b="1" dirty="0"/>
              </a:p>
              <a:p>
                <a:r>
                  <a:rPr lang="en-US" dirty="0"/>
                  <a:t>Constraints:</a:t>
                </a:r>
              </a:p>
              <a:p>
                <a:pPr lvl="1"/>
                <a:r>
                  <a:rPr lang="en-US" dirty="0"/>
                  <a:t>Series of linear constraints to describe the problem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sz="2800" dirty="0"/>
                  <a:t>min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subject to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𝐴𝑖𝑛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𝑏𝑖𝑛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𝐴𝑒𝑞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𝑏𝑒𝑞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Objective Function</a:t>
                </a:r>
              </a:p>
              <a:p>
                <a:pPr lvl="1"/>
                <a:r>
                  <a:rPr lang="en-US" dirty="0"/>
                  <a:t>We don’t assign costs to the schedule, we assign them to the constraints</a:t>
                </a:r>
              </a:p>
              <a:p>
                <a:pPr lvl="1"/>
                <a:r>
                  <a:rPr lang="en-US" dirty="0"/>
                  <a:t>If a constraint is “violated”, slack variable with cost switches 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90493-237E-4357-A750-04F67BDE10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49422"/>
                <a:ext cx="10515600" cy="4837642"/>
              </a:xfrm>
              <a:blipFill>
                <a:blip r:embed="rId2"/>
                <a:stretch>
                  <a:fillRect l="-1043" t="-2141" r="-870" b="-2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102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83F55-C80A-41E5-92F8-3E54B9F7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Constraint Groups (depends on league)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7549E-EE78-48C3-A624-77DD110DD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Every team plays in every slot (series)</a:t>
            </a:r>
          </a:p>
          <a:p>
            <a:r>
              <a:rPr lang="en-US" dirty="0"/>
              <a:t>Every slot is home vs visitor</a:t>
            </a:r>
          </a:p>
          <a:p>
            <a:r>
              <a:rPr lang="en-US" dirty="0"/>
              <a:t>Every team has # home games (what do we need for this to work?)</a:t>
            </a:r>
          </a:p>
          <a:p>
            <a:r>
              <a:rPr lang="en-US" dirty="0"/>
              <a:t>Every team has # total Friday and Saturday home games</a:t>
            </a:r>
          </a:p>
          <a:p>
            <a:r>
              <a:rPr lang="en-US" dirty="0"/>
              <a:t>Inter- and intra- divisional structure</a:t>
            </a:r>
          </a:p>
          <a:p>
            <a:r>
              <a:rPr lang="en-US" dirty="0"/>
              <a:t>Each team is home for one of July 3/4</a:t>
            </a:r>
          </a:p>
          <a:p>
            <a:r>
              <a:rPr lang="en-US" dirty="0"/>
              <a:t>Discourage one-series </a:t>
            </a:r>
            <a:r>
              <a:rPr lang="en-US" dirty="0" err="1"/>
              <a:t>roadtrips</a:t>
            </a:r>
            <a:r>
              <a:rPr lang="en-US" dirty="0"/>
              <a:t>/homestands</a:t>
            </a:r>
          </a:p>
          <a:p>
            <a:r>
              <a:rPr lang="en-US" dirty="0"/>
              <a:t>Discourage long travel (usually over 500 miles)</a:t>
            </a:r>
          </a:p>
          <a:p>
            <a:r>
              <a:rPr lang="en-US" dirty="0"/>
              <a:t>Enforce protected dates and encourage requested dates</a:t>
            </a:r>
          </a:p>
          <a:p>
            <a:r>
              <a:rPr lang="en-US" dirty="0"/>
              <a:t>No back to back series between teams</a:t>
            </a:r>
          </a:p>
          <a:p>
            <a:r>
              <a:rPr lang="en-US" dirty="0"/>
              <a:t>No traveling over a rest day</a:t>
            </a:r>
          </a:p>
          <a:p>
            <a:r>
              <a:rPr lang="en-US" dirty="0"/>
              <a:t>And several more </a:t>
            </a:r>
          </a:p>
        </p:txBody>
      </p:sp>
    </p:spTree>
    <p:extLst>
      <p:ext uri="{BB962C8B-B14F-4D97-AF65-F5344CB8AC3E}">
        <p14:creationId xmlns:p14="http://schemas.microsoft.com/office/powerpoint/2010/main" val="86742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41570-9F55-4DF0-B732-516644C9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Writing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04504-ADA0-4CF8-8ED0-4C9D68064D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9733" y="1825625"/>
                <a:ext cx="10515600" cy="1603375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Write the constraint(s) for </a:t>
                </a:r>
                <a:r>
                  <a:rPr lang="en-US" b="1" i="1" dirty="0"/>
                  <a:t>every team plays in every slot (series), </a:t>
                </a:r>
                <a:r>
                  <a:rPr lang="en-US" dirty="0"/>
                  <a:t>using</a:t>
                </a:r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1,2,…,#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𝑠𝑒𝑟𝑖𝑒𝑠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1,2,…,#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𝑡𝑒𝑎𝑚𝑠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1,2,…,#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𝑡𝑒𝑎𝑚𝑠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 algn="just"/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, then the program says that during the </a:t>
                </a:r>
                <a:r>
                  <a:rPr lang="en-US" b="1" dirty="0" err="1"/>
                  <a:t>i</a:t>
                </a:r>
                <a:r>
                  <a:rPr lang="en-US" b="1" baseline="30000" dirty="0" err="1"/>
                  <a:t>th</a:t>
                </a:r>
                <a:r>
                  <a:rPr lang="en-US" b="1" baseline="30000" dirty="0"/>
                  <a:t> </a:t>
                </a:r>
                <a:r>
                  <a:rPr lang="en-US" b="1" dirty="0"/>
                  <a:t>series</a:t>
                </a:r>
                <a:r>
                  <a:rPr lang="en-US" dirty="0"/>
                  <a:t>, </a:t>
                </a:r>
                <a:r>
                  <a:rPr lang="en-US" b="1" dirty="0"/>
                  <a:t>team j </a:t>
                </a:r>
                <a:r>
                  <a:rPr lang="en-US" dirty="0"/>
                  <a:t>is playing games at </a:t>
                </a:r>
                <a:r>
                  <a:rPr lang="en-US" b="1" dirty="0"/>
                  <a:t>stadium k </a:t>
                </a:r>
                <a:r>
                  <a:rPr lang="en-US" dirty="0"/>
                  <a:t>(team j plays team k at team k’s home stadium).</a:t>
                </a: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B04504-ADA0-4CF8-8ED0-4C9D68064D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9733" y="1825625"/>
                <a:ext cx="10515600" cy="1603375"/>
              </a:xfrm>
              <a:blipFill>
                <a:blip r:embed="rId2"/>
                <a:stretch>
                  <a:fillRect l="-870" t="-5682" r="-754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55103-3791-4157-8530-CB856D87A0AC}"/>
                  </a:ext>
                </a:extLst>
              </p:cNvPr>
              <p:cNvSpPr txBox="1"/>
              <p:nvPr/>
            </p:nvSpPr>
            <p:spPr>
              <a:xfrm>
                <a:off x="1092200" y="4130795"/>
                <a:ext cx="3937000" cy="12203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𝑡𝑒𝑎𝑚𝑠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55103-3791-4157-8530-CB856D87A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200" y="4130795"/>
                <a:ext cx="3937000" cy="12203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64E517C-0D02-4174-BF63-4085E465470A}"/>
              </a:ext>
            </a:extLst>
          </p:cNvPr>
          <p:cNvSpPr txBox="1"/>
          <p:nvPr/>
        </p:nvSpPr>
        <p:spPr>
          <a:xfrm>
            <a:off x="5215466" y="3725331"/>
            <a:ext cx="59774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“For each series, and for each team, the number of stadiums team j plays at must equal 1”</a:t>
            </a:r>
          </a:p>
          <a:p>
            <a:endParaRPr lang="en-US" dirty="0"/>
          </a:p>
          <a:p>
            <a:r>
              <a:rPr lang="en-US" dirty="0"/>
              <a:t>When combined with the constraint </a:t>
            </a:r>
            <a:r>
              <a:rPr lang="en-US" b="1" i="1" dirty="0"/>
              <a:t>every slot is home vs visitor</a:t>
            </a:r>
            <a:r>
              <a:rPr lang="en-US" dirty="0"/>
              <a:t>, this ensures that during each slot, each team will be playing at a single stadium, where there is guaranteed to be another team there to play.</a:t>
            </a:r>
          </a:p>
        </p:txBody>
      </p:sp>
    </p:spTree>
    <p:extLst>
      <p:ext uri="{BB962C8B-B14F-4D97-AF65-F5344CB8AC3E}">
        <p14:creationId xmlns:p14="http://schemas.microsoft.com/office/powerpoint/2010/main" val="390528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12325-9D39-4354-B14D-27A747B9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 Writing with Slack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9297B-5CC1-47D1-BBE1-32200B659A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the constraint(s) for </a:t>
            </a:r>
            <a:r>
              <a:rPr lang="en-US" b="1" i="1" dirty="0"/>
              <a:t>every team plays n home games, </a:t>
            </a:r>
            <a:r>
              <a:rPr lang="en-US" dirty="0"/>
              <a:t>but use slack variables that will equal 1 if a team plays n+1 or n-1 home games. Suppose you have a variable </a:t>
            </a:r>
            <a:r>
              <a:rPr lang="en-US" i="1" dirty="0" err="1"/>
              <a:t>g</a:t>
            </a:r>
            <a:r>
              <a:rPr lang="en-US" i="1" baseline="-25000" dirty="0" err="1"/>
              <a:t>i</a:t>
            </a:r>
            <a:r>
              <a:rPr lang="en-US" dirty="0"/>
              <a:t> which is the number of games in series </a:t>
            </a:r>
            <a:r>
              <a:rPr lang="en-US" i="1" dirty="0" err="1"/>
              <a:t>i</a:t>
            </a:r>
            <a:r>
              <a:rPr lang="en-US" i="1" dirty="0"/>
              <a:t>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C46108-5A56-47CE-AF67-718281329F74}"/>
                  </a:ext>
                </a:extLst>
              </p:cNvPr>
              <p:cNvSpPr txBox="1"/>
              <p:nvPr/>
            </p:nvSpPr>
            <p:spPr>
              <a:xfrm>
                <a:off x="440266" y="3591382"/>
                <a:ext cx="5850466" cy="1226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𝑠𝑒𝑟𝑖𝑒𝑠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0C46108-5A56-47CE-AF67-718281329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66" y="3591382"/>
                <a:ext cx="5850466" cy="12264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843E301-0775-4B23-927F-766FCD55CAEF}"/>
              </a:ext>
            </a:extLst>
          </p:cNvPr>
          <p:cNvSpPr txBox="1"/>
          <p:nvPr/>
        </p:nvSpPr>
        <p:spPr>
          <a:xfrm>
            <a:off x="6036732" y="3328386"/>
            <a:ext cx="59774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“For each team, the number of games played in series where team j plays at stadium j (their home stadium) is between n-1 and n+1”</a:t>
            </a:r>
          </a:p>
          <a:p>
            <a:r>
              <a:rPr lang="en-US" dirty="0"/>
              <a:t>We will put a cost, or “punishment” into the objective function for the slack variables, so the program has incentive to make the number of home games exactly n. We include the slack just in case n games is not feasible.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52FC3D-E4B3-4488-8EE8-1BB1B56D9F99}"/>
                  </a:ext>
                </a:extLst>
              </p:cNvPr>
              <p:cNvSpPr txBox="1"/>
              <p:nvPr/>
            </p:nvSpPr>
            <p:spPr>
              <a:xfrm>
                <a:off x="639233" y="4950473"/>
                <a:ext cx="5850466" cy="1226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nary>
                        <m:naryPr>
                          <m:chr m:val="∑"/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𝑠𝑒𝑟𝑖𝑒𝑠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≤−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52FC3D-E4B3-4488-8EE8-1BB1B56D9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33" y="4950473"/>
                <a:ext cx="5850466" cy="12264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301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F7581-14C8-4D7D-BE6D-2D158BB36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C39FA-E50A-42A3-88A8-898258783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3" y="1817158"/>
            <a:ext cx="4931875" cy="4351338"/>
          </a:xfrm>
        </p:spPr>
        <p:txBody>
          <a:bodyPr>
            <a:normAutofit/>
          </a:bodyPr>
          <a:lstStyle/>
          <a:p>
            <a:r>
              <a:rPr lang="en-US" dirty="0"/>
              <a:t>We need to split the season up into series, so we make a template</a:t>
            </a:r>
          </a:p>
          <a:p>
            <a:r>
              <a:rPr lang="en-US" dirty="0"/>
              <a:t>Some templates are better than others</a:t>
            </a:r>
          </a:p>
          <a:p>
            <a:r>
              <a:rPr lang="en-US" dirty="0"/>
              <a:t>They can be tailored to work well with protected dates, certain requests, certain constraints such as off day constraints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BD5EBD-5E98-445F-8E4C-6D8BBEA6C6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477" y="789176"/>
            <a:ext cx="3948704" cy="553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16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0B1B9-3EE4-4CC4-9DB6-06E068410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Complicated Template Example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4E819D-63AB-4895-AC10-8BA8194BC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3" y="181715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For example, International league 2020. Their priorities are:</a:t>
            </a:r>
          </a:p>
          <a:p>
            <a:pPr lvl="1"/>
            <a:r>
              <a:rPr lang="en-US" dirty="0"/>
              <a:t>Off days on Monday</a:t>
            </a:r>
          </a:p>
          <a:p>
            <a:pPr lvl="1"/>
            <a:r>
              <a:rPr lang="en-US" dirty="0"/>
              <a:t>Interdivisional not start </a:t>
            </a:r>
          </a:p>
          <a:p>
            <a:pPr marL="457200" lvl="1" indent="0">
              <a:buNone/>
            </a:pPr>
            <a:r>
              <a:rPr lang="en-US" dirty="0"/>
              <a:t>until may</a:t>
            </a:r>
          </a:p>
          <a:p>
            <a:pPr lvl="1"/>
            <a:r>
              <a:rPr lang="en-US" dirty="0"/>
              <a:t>No split weekends (F-Sun)</a:t>
            </a:r>
          </a:p>
          <a:p>
            <a:pPr lvl="1"/>
            <a:r>
              <a:rPr lang="en-US" dirty="0"/>
              <a:t>Split July 3</a:t>
            </a:r>
            <a:r>
              <a:rPr lang="en-US" baseline="30000" dirty="0"/>
              <a:t>rd</a:t>
            </a:r>
            <a:r>
              <a:rPr lang="en-US" dirty="0"/>
              <a:t> and 4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 3 and 4 game series</a:t>
            </a:r>
          </a:p>
          <a:p>
            <a:pPr lvl="1"/>
            <a:r>
              <a:rPr lang="en-US" dirty="0"/>
              <a:t>April 9</a:t>
            </a:r>
            <a:r>
              <a:rPr lang="en-US" baseline="30000" dirty="0"/>
              <a:t>th</a:t>
            </a:r>
            <a:r>
              <a:rPr lang="en-US" dirty="0"/>
              <a:t>-Sept 7</a:t>
            </a:r>
            <a:r>
              <a:rPr lang="en-US" baseline="30000" dirty="0"/>
              <a:t>th</a:t>
            </a:r>
            <a:r>
              <a:rPr lang="en-US" dirty="0"/>
              <a:t> 2020</a:t>
            </a:r>
          </a:p>
          <a:p>
            <a:pPr lvl="1"/>
            <a:r>
              <a:rPr lang="en-US" dirty="0"/>
              <a:t>140 games, 9 off days</a:t>
            </a:r>
          </a:p>
          <a:p>
            <a:pPr lvl="1"/>
            <a:r>
              <a:rPr lang="en-US" dirty="0"/>
              <a:t>3 day all star break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286734-4DD8-4D4E-B843-487C568F9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378" y="2748719"/>
            <a:ext cx="6703044" cy="374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093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F5FF-A57A-40E6-895F-A95EC861B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Format of the Code (in MATLAB)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7C36E-0BEE-4777-9471-37C557791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Whichconstraints</a:t>
            </a:r>
            <a:r>
              <a:rPr lang="en-US" dirty="0"/>
              <a:t> matrix. Can set punishment values and turn constraints off</a:t>
            </a:r>
          </a:p>
          <a:p>
            <a:r>
              <a:rPr lang="en-US" dirty="0"/>
              <a:t>Description of Constraints</a:t>
            </a:r>
          </a:p>
          <a:p>
            <a:r>
              <a:rPr lang="en-US" dirty="0"/>
              <a:t>Template</a:t>
            </a:r>
          </a:p>
          <a:p>
            <a:r>
              <a:rPr lang="en-US" dirty="0"/>
              <a:t>Code to set up some variables from template (complexity varies)</a:t>
            </a:r>
          </a:p>
          <a:p>
            <a:r>
              <a:rPr lang="en-US" dirty="0"/>
              <a:t>Protected and requested dates input</a:t>
            </a:r>
          </a:p>
          <a:p>
            <a:r>
              <a:rPr lang="en-US" dirty="0"/>
              <a:t>More boilerplate code to deal with those</a:t>
            </a:r>
          </a:p>
          <a:p>
            <a:r>
              <a:rPr lang="en-US" dirty="0"/>
              <a:t>Travel distance information</a:t>
            </a:r>
          </a:p>
          <a:p>
            <a:r>
              <a:rPr lang="en-US" dirty="0"/>
              <a:t>Sister city pairs (if using)</a:t>
            </a:r>
          </a:p>
          <a:p>
            <a:r>
              <a:rPr lang="en-US" dirty="0"/>
              <a:t>More boilerplate code to set up the matrices</a:t>
            </a:r>
          </a:p>
          <a:p>
            <a:r>
              <a:rPr lang="en-US" dirty="0"/>
              <a:t>All of the constraints (the important part!)</a:t>
            </a:r>
          </a:p>
          <a:p>
            <a:r>
              <a:rPr lang="en-US" dirty="0"/>
              <a:t>Boilerplate code to prepare the matrices, run the program, interpret the solution and output a schedule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66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39DB-09FC-4307-ADDB-7F40E5D6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Code and Repeat!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BDCFA-583A-49C4-9060-528700AF6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26"/>
            <a:ext cx="10515600" cy="46766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After running the code on Ziggy or </a:t>
            </a:r>
            <a:r>
              <a:rPr lang="en-US" dirty="0" err="1"/>
              <a:t>Chillywilly</a:t>
            </a:r>
            <a:r>
              <a:rPr lang="en-US" dirty="0"/>
              <a:t> (our computers)</a:t>
            </a:r>
          </a:p>
          <a:p>
            <a:r>
              <a:rPr lang="en-US" dirty="0"/>
              <a:t>Outputs: </a:t>
            </a:r>
          </a:p>
          <a:p>
            <a:pPr lvl="1"/>
            <a:r>
              <a:rPr lang="en-US" dirty="0"/>
              <a:t>For Excel: format to put into excel</a:t>
            </a:r>
          </a:p>
          <a:p>
            <a:pPr lvl="1"/>
            <a:r>
              <a:rPr lang="en-US" dirty="0" err="1"/>
              <a:t>Nprobs</a:t>
            </a:r>
            <a:r>
              <a:rPr lang="en-US" dirty="0"/>
              <a:t>: how many times was each constraint violated?</a:t>
            </a:r>
          </a:p>
          <a:p>
            <a:pPr lvl="1"/>
            <a:r>
              <a:rPr lang="en-US" dirty="0" err="1"/>
              <a:t>Problist</a:t>
            </a:r>
            <a:r>
              <a:rPr lang="en-US" dirty="0"/>
              <a:t>: More detail, where were the constraints violated?</a:t>
            </a:r>
          </a:p>
          <a:p>
            <a:r>
              <a:rPr lang="en-US" dirty="0"/>
              <a:t>Put the code output into an Excel file, it formats everything</a:t>
            </a:r>
          </a:p>
          <a:p>
            <a:r>
              <a:rPr lang="en-US" dirty="0"/>
              <a:t>Take a look over the schedule and the statistics, are there any issues that need to be addressed?</a:t>
            </a:r>
          </a:p>
          <a:p>
            <a:r>
              <a:rPr lang="en-US" dirty="0"/>
              <a:t>How can these issues be fixed? By changing the template, adding/changing/removing constraints, or altering the punishments.</a:t>
            </a:r>
          </a:p>
          <a:p>
            <a:r>
              <a:rPr lang="en-US" dirty="0"/>
              <a:t>Does something look odd that the league did not take into account?</a:t>
            </a:r>
          </a:p>
          <a:p>
            <a:r>
              <a:rPr lang="en-US" dirty="0"/>
              <a:t>It is an iterative process. Solve, improve, repeat until it’s good enough.</a:t>
            </a:r>
          </a:p>
        </p:txBody>
      </p:sp>
    </p:spTree>
    <p:extLst>
      <p:ext uri="{BB962C8B-B14F-4D97-AF65-F5344CB8AC3E}">
        <p14:creationId xmlns:p14="http://schemas.microsoft.com/office/powerpoint/2010/main" val="46969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7527-4301-4B79-90D1-7610204E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good schedule?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465CB-5192-4003-86AF-2EA5709D0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9204"/>
            <a:ext cx="10515600" cy="4667759"/>
          </a:xfrm>
        </p:spPr>
        <p:txBody>
          <a:bodyPr/>
          <a:lstStyle/>
          <a:p>
            <a:r>
              <a:rPr lang="en-US" dirty="0"/>
              <a:t>A good schedule is defined differently by each league</a:t>
            </a:r>
          </a:p>
          <a:p>
            <a:pPr lvl="1"/>
            <a:r>
              <a:rPr lang="en-US" dirty="0"/>
              <a:t>If we are facing some tradeoffs, we can ask the league what they prefer</a:t>
            </a:r>
          </a:p>
          <a:p>
            <a:r>
              <a:rPr lang="en-US" dirty="0"/>
              <a:t>Why do they care so much? Money is on the line.</a:t>
            </a:r>
          </a:p>
          <a:p>
            <a:r>
              <a:rPr lang="en-US" dirty="0" err="1"/>
              <a:t>Candystriping</a:t>
            </a:r>
            <a:r>
              <a:rPr lang="en-US" dirty="0"/>
              <a:t>: When there is a repeating pattern of one week home, one away. Some desire, some value other constraints over roughness of schedule.</a:t>
            </a:r>
          </a:p>
          <a:p>
            <a:r>
              <a:rPr lang="en-US" dirty="0" err="1"/>
              <a:t>Semirepeaters</a:t>
            </a:r>
            <a:r>
              <a:rPr lang="en-US" dirty="0"/>
              <a:t>: When team A plays at stadium B, and after one intervening series, team B plays at stadium A. Again, some hate, some do not care.</a:t>
            </a:r>
          </a:p>
        </p:txBody>
      </p:sp>
    </p:spTree>
    <p:extLst>
      <p:ext uri="{BB962C8B-B14F-4D97-AF65-F5344CB8AC3E}">
        <p14:creationId xmlns:p14="http://schemas.microsoft.com/office/powerpoint/2010/main" val="1544327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1124</TotalTime>
  <Words>1051</Words>
  <Application>Microsoft Macintosh PowerPoint</Application>
  <PresentationFormat>Widescreen</PresentationFormat>
  <Paragraphs>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Trebuchet MS</vt:lpstr>
      <vt:lpstr>Office Theme</vt:lpstr>
      <vt:lpstr>Intro to Baseball Scheduling</vt:lpstr>
      <vt:lpstr>The Problem </vt:lpstr>
      <vt:lpstr>Modeling</vt:lpstr>
      <vt:lpstr>Example Constraint Groups (depends on league)</vt:lpstr>
      <vt:lpstr>Constraint Writing Practice</vt:lpstr>
      <vt:lpstr>Constraint Writing with Slack Variable</vt:lpstr>
      <vt:lpstr>Template</vt:lpstr>
      <vt:lpstr>More Complicated Template Example</vt:lpstr>
      <vt:lpstr>General Format of the Code (in MATLAB)</vt:lpstr>
      <vt:lpstr>Run The Code and Repeat!</vt:lpstr>
      <vt:lpstr>What makes a good schedule?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Baseball Scheduling</dc:title>
  <dc:creator>Steven Witkin</dc:creator>
  <cp:lastModifiedBy>Eli Katz</cp:lastModifiedBy>
  <cp:revision>19</cp:revision>
  <dcterms:created xsi:type="dcterms:W3CDTF">2019-10-01T22:36:56Z</dcterms:created>
  <dcterms:modified xsi:type="dcterms:W3CDTF">2023-01-31T23:21:25Z</dcterms:modified>
</cp:coreProperties>
</file>